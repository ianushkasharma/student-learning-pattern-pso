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95B4B3BC-ADC8-B1E0-1081-AA34776F23DC}">
          <p14:sldIdLst>
            <p14:sldId id="256"/>
          </p14:sldIdLst>
        </p14:section>
        <p14:section name="Problem" id="{AF8DFF82-50C7-C9B0-0D9B-E3A9FEB9431C}">
          <p14:sldIdLst>
            <p14:sldId id="257"/>
            <p14:sldId id="258"/>
          </p14:sldIdLst>
        </p14:section>
        <p14:section name="Approach" id="{4FDD8583-13E2-E405-3AD9-8FEF24DF6BA1}">
          <p14:sldIdLst>
            <p14:sldId id="259"/>
            <p14:sldId id="260"/>
            <p14:sldId id="261"/>
          </p14:sldIdLst>
        </p14:section>
        <p14:section name="Results" id="{D6C2D267-03CF-3747-C655-B85F7C07AA61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Impact" id="{7FA2DFA9-63F4-2035-4F2D-C0B9CC02A516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059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we cluster students into learning patterns using a bio-inspired swarm algorithm (PSO).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TEXT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737360"/>
            <a:ext cx="804672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marL="0" indent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3716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Student Learning Pattern Clustering using Particle Swarm Optimization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29260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Bio-Inspired Computing  |  Unsupervised Learning  |  Problem 20</a:t>
            </a:r>
            <a:endParaRPr lang="en-US" sz="1600" dirty="0"/>
          </a:p>
        </p:txBody>
      </p:sp>
      <p:sp>
        <p:nvSpPr>
          <p:cNvPr id="4" name="swarm dot 1"/>
          <p:cNvSpPr/>
          <p:nvPr/>
        </p:nvSpPr>
        <p:spPr>
          <a:xfrm>
            <a:off x="5852160" y="320040"/>
            <a:ext cx="201168" cy="201168"/>
          </a:xfrm>
          <a:prstGeom prst="ellipse">
            <a:avLst/>
          </a:prstGeom>
          <a:solidFill>
            <a:srgbClr val="4C78A8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" name="swarm dot 2"/>
          <p:cNvSpPr/>
          <p:nvPr/>
        </p:nvSpPr>
        <p:spPr>
          <a:xfrm>
            <a:off x="6309360" y="731520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swarm dot 3"/>
          <p:cNvSpPr/>
          <p:nvPr/>
        </p:nvSpPr>
        <p:spPr>
          <a:xfrm>
            <a:off x="6858000" y="274320"/>
            <a:ext cx="201168" cy="2011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7" name="swarm dot 4"/>
          <p:cNvSpPr/>
          <p:nvPr/>
        </p:nvSpPr>
        <p:spPr>
          <a:xfrm>
            <a:off x="7315200" y="822960"/>
            <a:ext cx="201168" cy="201168"/>
          </a:xfrm>
          <a:prstGeom prst="ellipse">
            <a:avLst/>
          </a:prstGeom>
          <a:solidFill>
            <a:srgbClr val="B279A2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swarm dot 5"/>
          <p:cNvSpPr/>
          <p:nvPr/>
        </p:nvSpPr>
        <p:spPr>
          <a:xfrm>
            <a:off x="7863840" y="365760"/>
            <a:ext cx="201168" cy="201168"/>
          </a:xfrm>
          <a:prstGeom prst="ellipse">
            <a:avLst/>
          </a:prstGeom>
          <a:solidFill>
            <a:srgbClr val="4C78A8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9" name="swarm dot 6"/>
          <p:cNvSpPr/>
          <p:nvPr/>
        </p:nvSpPr>
        <p:spPr>
          <a:xfrm>
            <a:off x="8229600" y="868680"/>
            <a:ext cx="201168" cy="201168"/>
          </a:xfrm>
          <a:prstGeom prst="ellipse">
            <a:avLst/>
          </a:prstGeom>
          <a:solidFill>
            <a:srgbClr val="2A9D8F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swarm dot 7"/>
          <p:cNvSpPr/>
          <p:nvPr/>
        </p:nvSpPr>
        <p:spPr>
          <a:xfrm>
            <a:off x="5394960" y="777240"/>
            <a:ext cx="201168" cy="20116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swarm dot 8"/>
          <p:cNvSpPr/>
          <p:nvPr/>
        </p:nvSpPr>
        <p:spPr>
          <a:xfrm>
            <a:off x="6583680" y="1005840"/>
            <a:ext cx="201168" cy="201168"/>
          </a:xfrm>
          <a:prstGeom prst="ellipse">
            <a:avLst/>
          </a:prstGeom>
          <a:solidFill>
            <a:srgbClr val="B279A2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gbest star"/>
          <p:cNvSpPr/>
          <p:nvPr/>
        </p:nvSpPr>
        <p:spPr>
          <a:xfrm>
            <a:off x="6583680" y="457200"/>
            <a:ext cx="502920" cy="502920"/>
          </a:xfrm>
          <a:prstGeom prst="star5">
            <a:avLst/>
          </a:prstGeom>
          <a:solidFill>
            <a:schemeClr val="accent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1148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9BAD6"/>
                </a:solidFill>
              </a:rPr>
              <a:t>Clustering students by study hours, quiz performance, attendance and assignment completion</a:t>
            </a:r>
            <a:br>
              <a:rPr lang="en-US" sz="1400" dirty="0">
                <a:solidFill>
                  <a:srgbClr val="A9BAD6"/>
                </a:solidFill>
              </a:rPr>
            </a:br>
            <a:br>
              <a:rPr lang="en-US" sz="1400" dirty="0">
                <a:solidFill>
                  <a:srgbClr val="A9BAD6"/>
                </a:solidFill>
              </a:rPr>
            </a:br>
            <a:r>
              <a:rPr lang="en-US" sz="1400" dirty="0">
                <a:solidFill>
                  <a:srgbClr val="A9BAD6"/>
                </a:solidFill>
              </a:rPr>
              <a:t>Hiya Vora (RA2311003010182)</a:t>
            </a:r>
          </a:p>
          <a:p>
            <a:pPr marL="0" indent="0">
              <a:buNone/>
            </a:pPr>
            <a:r>
              <a:rPr lang="en-US" sz="1400">
                <a:solidFill>
                  <a:srgbClr val="A9BAD6"/>
                </a:solidFill>
              </a:rPr>
              <a:t>Anushka Sharma (RA2311003010197)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problem statement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Group students into distinct learning patterns so teachers can support each group differently, with no labels given in advance.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6517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A5875"/>
                </a:solidFill>
              </a:rPr>
              <a:t>Unsupervised learning problem solved with a Bio-Inspired Computing technique.</a:t>
            </a:r>
            <a:endParaRPr lang="en-US" sz="1400" dirty="0"/>
          </a:p>
        </p:txBody>
      </p:sp>
      <p:sp>
        <p:nvSpPr>
          <p:cNvPr id="5" name="feature card 1"/>
          <p:cNvSpPr/>
          <p:nvPr/>
        </p:nvSpPr>
        <p:spPr>
          <a:xfrm>
            <a:off x="4572000" y="114300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6" name="feature num 1"/>
          <p:cNvSpPr/>
          <p:nvPr/>
        </p:nvSpPr>
        <p:spPr>
          <a:xfrm>
            <a:off x="4709160" y="1280160"/>
            <a:ext cx="457200" cy="457200"/>
          </a:xfrm>
          <a:prstGeom prst="ellipse">
            <a:avLst/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0916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70916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Study hours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2128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875"/>
                </a:solidFill>
              </a:rPr>
              <a:t>hours per week</a:t>
            </a:r>
            <a:endParaRPr lang="en-US" sz="1200" dirty="0"/>
          </a:p>
        </p:txBody>
      </p:sp>
      <p:sp>
        <p:nvSpPr>
          <p:cNvPr id="10" name="feature card 2"/>
          <p:cNvSpPr/>
          <p:nvPr/>
        </p:nvSpPr>
        <p:spPr>
          <a:xfrm>
            <a:off x="6675120" y="114300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1" name="feature num 2"/>
          <p:cNvSpPr/>
          <p:nvPr/>
        </p:nvSpPr>
        <p:spPr>
          <a:xfrm>
            <a:off x="6812280" y="1280160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122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812280" y="18745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Quiz performance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812280" y="22128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875"/>
                </a:solidFill>
              </a:rPr>
              <a:t>average quiz score %</a:t>
            </a:r>
            <a:endParaRPr lang="en-US" sz="1200" dirty="0"/>
          </a:p>
        </p:txBody>
      </p:sp>
      <p:sp>
        <p:nvSpPr>
          <p:cNvPr id="15" name="feature card 3"/>
          <p:cNvSpPr/>
          <p:nvPr/>
        </p:nvSpPr>
        <p:spPr>
          <a:xfrm>
            <a:off x="4572000" y="288036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6" name="feature num 3"/>
          <p:cNvSpPr/>
          <p:nvPr/>
        </p:nvSpPr>
        <p:spPr>
          <a:xfrm>
            <a:off x="4709160" y="3017520"/>
            <a:ext cx="457200" cy="45720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Attendance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39502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875"/>
                </a:solidFill>
              </a:rPr>
              <a:t>classes attended %</a:t>
            </a:r>
            <a:endParaRPr lang="en-US" sz="1200" dirty="0"/>
          </a:p>
        </p:txBody>
      </p:sp>
      <p:sp>
        <p:nvSpPr>
          <p:cNvPr id="20" name="feature card 4"/>
          <p:cNvSpPr/>
          <p:nvPr/>
        </p:nvSpPr>
        <p:spPr>
          <a:xfrm>
            <a:off x="6675120" y="2880360"/>
            <a:ext cx="1920240" cy="1554480"/>
          </a:xfrm>
          <a:prstGeom prst="roundRect">
            <a:avLst>
              <a:gd name="adj" fmla="val 70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1" name="feature num 4"/>
          <p:cNvSpPr/>
          <p:nvPr/>
        </p:nvSpPr>
        <p:spPr>
          <a:xfrm>
            <a:off x="6812280" y="3017520"/>
            <a:ext cx="457200" cy="457200"/>
          </a:xfrm>
          <a:prstGeom prst="ellipse">
            <a:avLst/>
          </a:prstGeom>
          <a:solidFill>
            <a:srgbClr val="B279A2"/>
          </a:solidFill>
          <a:ln w="12700">
            <a:solidFill>
              <a:srgbClr val="B279A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1228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812280" y="3611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Assignments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95020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875"/>
                </a:solidFill>
              </a:rPr>
              <a:t>completion rate %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526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</a:rPr>
              <a:t>Four input features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Dataset and preprocessing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80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4C78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875"/>
                </a:solidFill>
              </a:rPr>
              <a:t>students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29184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74720" y="1280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2A9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875"/>
                </a:solidFill>
              </a:rPr>
              <a:t>features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126480" y="118872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09360" y="12801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800" b="1" dirty="0">
                <a:solidFill>
                  <a:srgbClr val="E76F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103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875"/>
                </a:solidFill>
              </a:rPr>
              <a:t>hidden patterns (validation only)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971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Synthetic students generated from four behaviours: high achievers, hard workers, smart skippers, disengaged.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Hidden labels are never used for training, only to check results at the end.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Z-score standardisation, because PSO uses Euclidean distance and hours and percentages have different scales.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PCA to 2-D, used only for visualisation. You can also upload your own CSV.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Bio-inspired concept: PSO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Inspired by how bird flocks and fish schools find food: each individual remembers its own best spot and follows the best spot found by the group.</a:t>
            </a:r>
            <a:endParaRPr lang="en-US" sz="1500" dirty="0"/>
          </a:p>
        </p:txBody>
      </p:sp>
      <p:sp>
        <p:nvSpPr>
          <p:cNvPr id="4" name="force card 1"/>
          <p:cNvSpPr/>
          <p:nvPr/>
        </p:nvSpPr>
        <p:spPr>
          <a:xfrm>
            <a:off x="457200" y="182880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5" name="force icon 1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w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Inertia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875"/>
                </a:solidFill>
              </a:rPr>
              <a:t>keep moving in the current direction</a:t>
            </a:r>
            <a:endParaRPr lang="en-US" sz="1300" dirty="0"/>
          </a:p>
        </p:txBody>
      </p:sp>
      <p:sp>
        <p:nvSpPr>
          <p:cNvPr id="9" name="force card 2"/>
          <p:cNvSpPr/>
          <p:nvPr/>
        </p:nvSpPr>
        <p:spPr>
          <a:xfrm>
            <a:off x="3291840" y="182880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0" name="force icon 2"/>
          <p:cNvSpPr/>
          <p:nvPr/>
        </p:nvSpPr>
        <p:spPr>
          <a:xfrm>
            <a:off x="3474720" y="196596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Cognitive pull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875"/>
                </a:solidFill>
              </a:rPr>
              <a:t>return toward my own best position (pbest)</a:t>
            </a:r>
            <a:endParaRPr lang="en-US" sz="1300" dirty="0"/>
          </a:p>
        </p:txBody>
      </p:sp>
      <p:sp>
        <p:nvSpPr>
          <p:cNvPr id="14" name="force card 3"/>
          <p:cNvSpPr/>
          <p:nvPr/>
        </p:nvSpPr>
        <p:spPr>
          <a:xfrm>
            <a:off x="6126480" y="1828800"/>
            <a:ext cx="26517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5" name="force icon 3"/>
          <p:cNvSpPr/>
          <p:nvPr/>
        </p:nvSpPr>
        <p:spPr>
          <a:xfrm>
            <a:off x="6309360" y="1965960"/>
            <a:ext cx="502920" cy="5029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c2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49440" y="20116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chemeClr val="tx1"/>
                </a:solidFill>
              </a:rPr>
              <a:t>Social pull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30936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875"/>
                </a:solidFill>
              </a:rPr>
              <a:t>move toward the swarm's best position (gbest)</a:t>
            </a:r>
            <a:endParaRPr lang="en-US" sz="1300" dirty="0"/>
          </a:p>
        </p:txBody>
      </p:sp>
      <p:sp>
        <p:nvSpPr>
          <p:cNvPr id="19" name="equation panel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1043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0080" y="363931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v(t+1) = w·v(t) + c1·r1·(pbest − x) + c2·r2·(gbest − x)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1148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x(t+1) = x(t) + v(t+1)      r1, r2 are random numbers in [0, 1]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Mapping PSO to clustering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2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PSO element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Meaning in this problem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Particle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One full set of k centroids (a k × 4 vector)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Position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Centroid locations in standardised feature space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Velocity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How the centroids move at the next iteration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pbest / gbest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Best centroids found by one particle / by the whole swarm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Fitness (minimise)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Mean squared distance of each student to its nearest centroid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4A5875"/>
                </a:solidFill>
              </a:rPr>
              <a:t>Added safeguards: decreasing inertia (0.9 to 0.4) to explore first then refine, velocity clamping, boundary clipping, and a penalty for empty clusters.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Our pipeline</a:t>
            </a:r>
            <a:endParaRPr lang="en-US" sz="3000" dirty="0"/>
          </a:p>
        </p:txBody>
      </p:sp>
      <p:sp>
        <p:nvSpPr>
          <p:cNvPr id="3" name="step card 1"/>
          <p:cNvSpPr/>
          <p:nvPr/>
        </p:nvSpPr>
        <p:spPr>
          <a:xfrm>
            <a:off x="457200" y="123444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4" name="step num 1"/>
          <p:cNvSpPr/>
          <p:nvPr/>
        </p:nvSpPr>
        <p:spPr>
          <a:xfrm>
            <a:off x="640080" y="1417320"/>
            <a:ext cx="502920" cy="502920"/>
          </a:xfrm>
          <a:prstGeom prst="ellipse">
            <a:avLst/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63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Data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875"/>
                </a:solidFill>
              </a:rPr>
              <a:t>400 students, 4 features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035808" y="1737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A99"/>
                </a:solidFill>
              </a:rPr>
              <a:t>&gt;</a:t>
            </a:r>
            <a:endParaRPr lang="en-US" sz="2000" dirty="0"/>
          </a:p>
        </p:txBody>
      </p:sp>
      <p:sp>
        <p:nvSpPr>
          <p:cNvPr id="9" name="step card 2"/>
          <p:cNvSpPr/>
          <p:nvPr/>
        </p:nvSpPr>
        <p:spPr>
          <a:xfrm>
            <a:off x="3291840" y="123444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0" name="step num 2"/>
          <p:cNvSpPr/>
          <p:nvPr/>
        </p:nvSpPr>
        <p:spPr>
          <a:xfrm>
            <a:off x="3474720" y="1417320"/>
            <a:ext cx="502920" cy="5029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160520" y="1463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Scale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875"/>
                </a:solidFill>
              </a:rPr>
              <a:t>z-score + PCA view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870448" y="173736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A99"/>
                </a:solidFill>
              </a:rPr>
              <a:t>&gt;</a:t>
            </a:r>
            <a:endParaRPr lang="en-US" sz="2000" dirty="0"/>
          </a:p>
        </p:txBody>
      </p:sp>
      <p:sp>
        <p:nvSpPr>
          <p:cNvPr id="15" name="step card 3"/>
          <p:cNvSpPr/>
          <p:nvPr/>
        </p:nvSpPr>
        <p:spPr>
          <a:xfrm>
            <a:off x="6126480" y="123444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6" name="step num 3"/>
          <p:cNvSpPr/>
          <p:nvPr/>
        </p:nvSpPr>
        <p:spPr>
          <a:xfrm>
            <a:off x="6309360" y="1417320"/>
            <a:ext cx="502920" cy="50292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93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1463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PSO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0936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875"/>
                </a:solidFill>
              </a:rPr>
              <a:t>swarm of 40, 150 iterations</a:t>
            </a:r>
            <a:endParaRPr lang="en-US" sz="1300" dirty="0"/>
          </a:p>
        </p:txBody>
      </p:sp>
      <p:sp>
        <p:nvSpPr>
          <p:cNvPr id="20" name="step card 4"/>
          <p:cNvSpPr/>
          <p:nvPr/>
        </p:nvSpPr>
        <p:spPr>
          <a:xfrm>
            <a:off x="457200" y="29260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1" name="step num 4"/>
          <p:cNvSpPr/>
          <p:nvPr/>
        </p:nvSpPr>
        <p:spPr>
          <a:xfrm>
            <a:off x="640080" y="3108960"/>
            <a:ext cx="502920" cy="50292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154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Pick k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875"/>
                </a:solidFill>
              </a:rPr>
              <a:t>4 validity metrics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035808" y="34290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A99"/>
                </a:solidFill>
              </a:rPr>
              <a:t>&gt;</a:t>
            </a:r>
            <a:endParaRPr lang="en-US" sz="2000" dirty="0"/>
          </a:p>
        </p:txBody>
      </p:sp>
      <p:sp>
        <p:nvSpPr>
          <p:cNvPr id="26" name="step card 5"/>
          <p:cNvSpPr/>
          <p:nvPr/>
        </p:nvSpPr>
        <p:spPr>
          <a:xfrm>
            <a:off x="3291840" y="29260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27" name="step num 5"/>
          <p:cNvSpPr/>
          <p:nvPr/>
        </p:nvSpPr>
        <p:spPr>
          <a:xfrm>
            <a:off x="3474720" y="3108960"/>
            <a:ext cx="502920" cy="502920"/>
          </a:xfrm>
          <a:prstGeom prst="ellipse">
            <a:avLst/>
          </a:prstGeom>
          <a:solidFill>
            <a:srgbClr val="B279A2"/>
          </a:solidFill>
          <a:ln w="12700">
            <a:solidFill>
              <a:srgbClr val="B279A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747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160520" y="3154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Profile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347472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875"/>
                </a:solidFill>
              </a:rPr>
              <a:t>name each pattern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870448" y="34290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A99"/>
                </a:solidFill>
              </a:rPr>
              <a:t>&gt;</a:t>
            </a:r>
            <a:endParaRPr lang="en-US" sz="2000" dirty="0"/>
          </a:p>
        </p:txBody>
      </p:sp>
      <p:sp>
        <p:nvSpPr>
          <p:cNvPr id="32" name="step card 6"/>
          <p:cNvSpPr/>
          <p:nvPr/>
        </p:nvSpPr>
        <p:spPr>
          <a:xfrm>
            <a:off x="6126480" y="2926080"/>
            <a:ext cx="256032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3" name="step num 6"/>
          <p:cNvSpPr/>
          <p:nvPr/>
        </p:nvSpPr>
        <p:spPr>
          <a:xfrm>
            <a:off x="6309360" y="3108960"/>
            <a:ext cx="502920" cy="502920"/>
          </a:xfrm>
          <a:prstGeom prst="ellipse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093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995160" y="3154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Validate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30936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875"/>
                </a:solidFill>
              </a:rPr>
              <a:t>vs K-Means, 15 runs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99"/>
                </a:solidFill>
              </a:rPr>
              <a:t>Everything runs in one Google Colab notebook, with the PSO written from scratch in NumPy.</a:t>
            </a:r>
            <a:endParaRPr lang="en-US" sz="12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Choosing the number of clusters</a:t>
            </a:r>
            <a:endParaRPr lang="en-US" sz="3000" dirty="0"/>
          </a:p>
        </p:txBody>
      </p:sp>
      <p:pic>
        <p:nvPicPr>
          <p:cNvPr id="3" name="k selection curves" descr="k selection curv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4435"/>
            <a:ext cx="8229600" cy="15916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301752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PSO was run for k = 2 to 8. Elbow, silhouette, Davies-Bouldin and Calinski-Harabasz were combined by rank aggregation.</a:t>
            </a:r>
            <a:endParaRPr lang="en-US" sz="1500" dirty="0"/>
          </a:p>
        </p:txBody>
      </p:sp>
      <p:sp>
        <p:nvSpPr>
          <p:cNvPr id="5" name="k result card"/>
          <p:cNvSpPr/>
          <p:nvPr/>
        </p:nvSpPr>
        <p:spPr>
          <a:xfrm>
            <a:off x="5669280" y="3017520"/>
            <a:ext cx="3017520" cy="13716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5669280" y="3063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= 4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four learning patterns found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PSO convergence</a:t>
            </a:r>
            <a:endParaRPr lang="en-US" sz="3000" dirty="0"/>
          </a:p>
        </p:txBody>
      </p:sp>
      <p:pic>
        <p:nvPicPr>
          <p:cNvPr id="3" name="convergence plots" descr="convergence plo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62372"/>
            <a:ext cx="8229600" cy="1807176"/>
          </a:xfrm>
          <a:prstGeom prst="rect">
            <a:avLst/>
          </a:prstGeom>
        </p:spPr>
      </p:pic>
      <p:sp>
        <p:nvSpPr>
          <p:cNvPr id="4" name="insight card 1"/>
          <p:cNvSpPr/>
          <p:nvPr/>
        </p:nvSpPr>
        <p:spPr>
          <a:xfrm>
            <a:off x="457200" y="315468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008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Fitness drops fast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6301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875"/>
                </a:solidFill>
              </a:rPr>
              <a:t>global best falls steeply in the first iterations, then settles at 0.285 MSE</a:t>
            </a:r>
            <a:endParaRPr lang="en-US" sz="1200" dirty="0"/>
          </a:p>
        </p:txBody>
      </p:sp>
      <p:sp>
        <p:nvSpPr>
          <p:cNvPr id="7" name="insight card 2"/>
          <p:cNvSpPr/>
          <p:nvPr/>
        </p:nvSpPr>
        <p:spPr>
          <a:xfrm>
            <a:off x="3291840" y="315468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47472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Diversity shrinks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36301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875"/>
                </a:solidFill>
              </a:rPr>
              <a:t>the swarm spreads out early (explore) and clusters tightly later (exploit)</a:t>
            </a:r>
            <a:endParaRPr lang="en-US" sz="1200" dirty="0"/>
          </a:p>
        </p:txBody>
      </p:sp>
      <p:sp>
        <p:nvSpPr>
          <p:cNvPr id="10" name="insight card 3"/>
          <p:cNvSpPr/>
          <p:nvPr/>
        </p:nvSpPr>
        <p:spPr>
          <a:xfrm>
            <a:off x="6126480" y="3154680"/>
            <a:ext cx="26517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309360" y="3246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Inertia decays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3630168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A5875"/>
                </a:solidFill>
              </a:rPr>
              <a:t>w goes from 0.9 to 0.4, shifting the swarm from exploration to refinement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How the swarm finds the clusters</a:t>
            </a:r>
            <a:endParaRPr lang="en-US" sz="3000" dirty="0"/>
          </a:p>
        </p:txBody>
      </p:sp>
      <p:pic>
        <p:nvPicPr>
          <p:cNvPr id="3" name="centroid evolution snapshots" descr="centroid evolution snapsho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19643"/>
            <a:ext cx="5669280" cy="3184274"/>
          </a:xfrm>
          <a:prstGeom prst="rect">
            <a:avLst/>
          </a:prstGeom>
        </p:spPr>
      </p:pic>
      <p:sp>
        <p:nvSpPr>
          <p:cNvPr id="4" name="evolution note card"/>
          <p:cNvSpPr/>
          <p:nvPr/>
        </p:nvSpPr>
        <p:spPr>
          <a:xfrm>
            <a:off x="6355080" y="1188720"/>
            <a:ext cx="2331720" cy="320040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6492240" y="1325880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Gold stars are the global-best centroids.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92240" y="2103120"/>
            <a:ext cx="2057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4A5875"/>
                </a:solidFill>
              </a:rPr>
              <a:t>They start at poor positions, then migrate step by step to the centre of each student group, and stop moving once the swarm agrees.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Discovered clusters</a:t>
            </a:r>
            <a:endParaRPr lang="en-US" sz="3000" dirty="0"/>
          </a:p>
        </p:txBody>
      </p:sp>
      <p:pic>
        <p:nvPicPr>
          <p:cNvPr id="3" name="final PSO clusters" descr="final PSO cluste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7435"/>
            <a:ext cx="8229600" cy="309720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A5875"/>
                </a:solidFill>
              </a:rPr>
              <a:t>Four well-separated groups in PCA space. Silhouette 0.679, Davies-Bouldin 0.461, Calinski-Harabasz 1722.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four learning patterns</a:t>
            </a:r>
            <a:endParaRPr lang="en-US" sz="3000" dirty="0"/>
          </a:p>
        </p:txBody>
      </p:sp>
      <p:sp>
        <p:nvSpPr>
          <p:cNvPr id="3" name="pattern card 1"/>
          <p:cNvSpPr/>
          <p:nvPr/>
        </p:nvSpPr>
        <p:spPr>
          <a:xfrm>
            <a:off x="457200" y="109728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4" name="pattern num 1"/>
          <p:cNvSpPr/>
          <p:nvPr/>
        </p:nvSpPr>
        <p:spPr>
          <a:xfrm>
            <a:off x="640080" y="1280160"/>
            <a:ext cx="411480" cy="411480"/>
          </a:xfrm>
          <a:prstGeom prst="ellipse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280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Consistent High Achievers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0" y="12801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5875"/>
                </a:solidFill>
              </a:rPr>
              <a:t>n = 110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26.8 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317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Study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572768" y="19659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89.6%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23317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Quiz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505456" y="19659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95.1%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505456" y="23317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Attend.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438144" y="19659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95.9%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38144" y="23317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Assign.</a:t>
            </a:r>
            <a:endParaRPr lang="en-US" sz="1100" dirty="0"/>
          </a:p>
        </p:txBody>
      </p:sp>
      <p:sp>
        <p:nvSpPr>
          <p:cNvPr id="16" name="pattern card 2"/>
          <p:cNvSpPr/>
          <p:nvPr/>
        </p:nvSpPr>
        <p:spPr>
          <a:xfrm>
            <a:off x="4663440" y="109728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7" name="pattern num 2"/>
          <p:cNvSpPr/>
          <p:nvPr/>
        </p:nvSpPr>
        <p:spPr>
          <a:xfrm>
            <a:off x="4846320" y="1280160"/>
            <a:ext cx="411480" cy="411480"/>
          </a:xfrm>
          <a:prstGeom prst="ellipse">
            <a:avLst/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394960" y="1280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Hard Workers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12801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5875"/>
                </a:solidFill>
              </a:rPr>
              <a:t>n = 90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19659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21.7 h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23317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Study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779008" y="19659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55.1%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779008" y="23317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Quiz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711696" y="19659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82.1%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711696" y="23317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Attend.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644384" y="19659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77.5%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644384" y="23317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Assign.</a:t>
            </a:r>
            <a:endParaRPr lang="en-US" sz="1100" dirty="0"/>
          </a:p>
        </p:txBody>
      </p:sp>
      <p:sp>
        <p:nvSpPr>
          <p:cNvPr id="29" name="pattern card 3"/>
          <p:cNvSpPr/>
          <p:nvPr/>
        </p:nvSpPr>
        <p:spPr>
          <a:xfrm>
            <a:off x="457200" y="292608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30" name="pattern num 3"/>
          <p:cNvSpPr/>
          <p:nvPr/>
        </p:nvSpPr>
        <p:spPr>
          <a:xfrm>
            <a:off x="640080" y="3108960"/>
            <a:ext cx="411480" cy="411480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18872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Smart Skippers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3474720" y="31089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5875"/>
                </a:solidFill>
              </a:rPr>
              <a:t>n = 110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" y="37947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8.0 h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4160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Study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1572768" y="37947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82.1%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572768" y="4160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Quiz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2505456" y="37947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57.2%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2505456" y="4160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Attend.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3438144" y="37947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52.0%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3438144" y="4160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Assign.</a:t>
            </a:r>
            <a:endParaRPr lang="en-US" sz="1100" dirty="0"/>
          </a:p>
        </p:txBody>
      </p:sp>
      <p:sp>
        <p:nvSpPr>
          <p:cNvPr id="42" name="pattern card 4"/>
          <p:cNvSpPr/>
          <p:nvPr/>
        </p:nvSpPr>
        <p:spPr>
          <a:xfrm>
            <a:off x="4663440" y="2926080"/>
            <a:ext cx="40233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43" name="pattern num 4"/>
          <p:cNvSpPr/>
          <p:nvPr/>
        </p:nvSpPr>
        <p:spPr>
          <a:xfrm>
            <a:off x="4846320" y="3108960"/>
            <a:ext cx="411480" cy="411480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84632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394960" y="31089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Disengaged / At-Risk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7680960" y="31089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4A5875"/>
                </a:solidFill>
              </a:rPr>
              <a:t>n = 90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4846320" y="37947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4.1 h</a:t>
            </a:r>
            <a:endParaRPr lang="en-US" sz="1600" dirty="0"/>
          </a:p>
        </p:txBody>
      </p:sp>
      <p:sp>
        <p:nvSpPr>
          <p:cNvPr id="48" name="Text 46"/>
          <p:cNvSpPr txBox="1"/>
          <p:nvPr/>
        </p:nvSpPr>
        <p:spPr>
          <a:xfrm>
            <a:off x="4846320" y="4160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Study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779008" y="37947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33.5%</a:t>
            </a:r>
            <a:endParaRPr lang="en-US" sz="1600" dirty="0"/>
          </a:p>
        </p:txBody>
      </p:sp>
      <p:sp>
        <p:nvSpPr>
          <p:cNvPr id="50" name="Text 48"/>
          <p:cNvSpPr txBox="1"/>
          <p:nvPr/>
        </p:nvSpPr>
        <p:spPr>
          <a:xfrm>
            <a:off x="5779008" y="4160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Quiz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711696" y="37947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44.1%</a:t>
            </a:r>
            <a:endParaRPr lang="en-US" sz="1600" dirty="0"/>
          </a:p>
        </p:txBody>
      </p:sp>
      <p:sp>
        <p:nvSpPr>
          <p:cNvPr id="52" name="Text 50"/>
          <p:cNvSpPr txBox="1"/>
          <p:nvPr/>
        </p:nvSpPr>
        <p:spPr>
          <a:xfrm>
            <a:off x="6711696" y="4160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Attend.</a:t>
            </a:r>
            <a:endParaRPr lang="en-US" sz="1100" dirty="0"/>
          </a:p>
        </p:txBody>
      </p:sp>
      <p:sp>
        <p:nvSpPr>
          <p:cNvPr id="53" name="Text 51"/>
          <p:cNvSpPr txBox="1"/>
          <p:nvPr/>
        </p:nvSpPr>
        <p:spPr>
          <a:xfrm>
            <a:off x="7644384" y="3794760"/>
            <a:ext cx="896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</a:rPr>
              <a:t>30.7%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644384" y="416052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B7A99"/>
                </a:solidFill>
              </a:rPr>
              <a:t>Assign.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Cluster means in original units.</a:t>
            </a:r>
            <a:endParaRPr lang="en-US" sz="10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PSO vs K-Means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Over 15 random seeds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PSO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K-Means (1 init)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Mean SSE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116.8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194.5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SSE spread (std)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3.5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108.6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Mean silhouette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0.679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0.591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B1F3A"/>
                          </a:solidFill>
                        </a:rPr>
                        <a:t>Silhouette range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0.679 to 0.679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B1F3A"/>
                          </a:solidFill>
                        </a:rPr>
                        <a:t>0.414 to 0.679</a:t>
                      </a:r>
                      <a:endParaRPr lang="en-US" sz="1300" dirty="0"/>
                    </a:p>
                  </a:txBody>
                  <a:tcPr anchor="ctr">
                    <a:lnL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ari card"/>
          <p:cNvSpPr/>
          <p:nvPr/>
        </p:nvSpPr>
        <p:spPr>
          <a:xfrm>
            <a:off x="5852160" y="1097280"/>
            <a:ext cx="2834640" cy="2286000"/>
          </a:xfrm>
          <a:prstGeom prst="roundRect">
            <a:avLst>
              <a:gd name="adj" fmla="val 48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852160" y="12344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24028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Adjusted Rand Index vs the hidden true patterns: PSO recovers every group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6576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With 10 restarts, K-Means reaches the same best solution as PSO (SSE 113.9).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PSO's advantage is reliability: nearly identical results on every run, with no restarts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From clusters to action</a:t>
            </a:r>
            <a:endParaRPr lang="en-US" sz="3000" dirty="0"/>
          </a:p>
        </p:txBody>
      </p:sp>
      <p:sp>
        <p:nvSpPr>
          <p:cNvPr id="3" name="action row 1"/>
          <p:cNvSpPr/>
          <p:nvPr/>
        </p:nvSpPr>
        <p:spPr>
          <a:xfrm>
            <a:off x="457200" y="1097280"/>
            <a:ext cx="82296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4" name="action num 1"/>
          <p:cNvSpPr/>
          <p:nvPr/>
        </p:nvSpPr>
        <p:spPr>
          <a:xfrm>
            <a:off x="640080" y="1234440"/>
            <a:ext cx="475488" cy="475488"/>
          </a:xfrm>
          <a:prstGeom prst="ellipse">
            <a:avLst/>
          </a:prstGeom>
          <a:solidFill>
            <a:srgbClr val="54A24B"/>
          </a:solidFill>
          <a:ln w="12700">
            <a:solidFill>
              <a:srgbClr val="54A2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18872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Consistent High Achievers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18872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875"/>
                </a:solidFill>
              </a:rPr>
              <a:t>Enrichment, peer mentoring, advanced projects</a:t>
            </a:r>
            <a:endParaRPr lang="en-US" sz="1300" dirty="0"/>
          </a:p>
        </p:txBody>
      </p:sp>
      <p:sp>
        <p:nvSpPr>
          <p:cNvPr id="8" name="action row 2"/>
          <p:cNvSpPr/>
          <p:nvPr/>
        </p:nvSpPr>
        <p:spPr>
          <a:xfrm>
            <a:off x="457200" y="1984248"/>
            <a:ext cx="82296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9" name="action num 2"/>
          <p:cNvSpPr/>
          <p:nvPr/>
        </p:nvSpPr>
        <p:spPr>
          <a:xfrm>
            <a:off x="640080" y="2121408"/>
            <a:ext cx="475488" cy="475488"/>
          </a:xfrm>
          <a:prstGeom prst="ellipse">
            <a:avLst/>
          </a:prstGeom>
          <a:solidFill>
            <a:srgbClr val="4C78A8"/>
          </a:solidFill>
          <a:ln w="12700">
            <a:solidFill>
              <a:srgbClr val="4C78A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1214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075688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Hard Workers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07568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875"/>
                </a:solidFill>
              </a:rPr>
              <a:t>Teach study strategy: active recall, spaced practice, targeted tutoring</a:t>
            </a:r>
            <a:endParaRPr lang="en-US" sz="1300" dirty="0"/>
          </a:p>
        </p:txBody>
      </p:sp>
      <p:sp>
        <p:nvSpPr>
          <p:cNvPr id="13" name="action row 3"/>
          <p:cNvSpPr/>
          <p:nvPr/>
        </p:nvSpPr>
        <p:spPr>
          <a:xfrm>
            <a:off x="457200" y="2871216"/>
            <a:ext cx="82296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4" name="action num 3"/>
          <p:cNvSpPr/>
          <p:nvPr/>
        </p:nvSpPr>
        <p:spPr>
          <a:xfrm>
            <a:off x="640080" y="3008376"/>
            <a:ext cx="475488" cy="475488"/>
          </a:xfrm>
          <a:prstGeom prst="ellipse">
            <a:avLst/>
          </a:prstGeom>
          <a:solidFill>
            <a:srgbClr val="F5B700"/>
          </a:solidFill>
          <a:ln w="12700">
            <a:solidFill>
              <a:srgbClr val="F5B7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008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2962656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Smart Skippers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296265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875"/>
                </a:solidFill>
              </a:rPr>
              <a:t>Strong grasp but low engagement: challenge tasks and clear deadlines</a:t>
            </a:r>
            <a:endParaRPr lang="en-US" sz="1300" dirty="0"/>
          </a:p>
        </p:txBody>
      </p:sp>
      <p:sp>
        <p:nvSpPr>
          <p:cNvPr id="18" name="action row 4"/>
          <p:cNvSpPr/>
          <p:nvPr/>
        </p:nvSpPr>
        <p:spPr>
          <a:xfrm>
            <a:off x="457200" y="3758184"/>
            <a:ext cx="8229600" cy="749808"/>
          </a:xfrm>
          <a:prstGeom prst="roundRect">
            <a:avLst>
              <a:gd name="adj" fmla="val 1463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blurRad="101600" dist="25400" dir="5400000" algn="bl" rotWithShape="0">
              <a:srgbClr val="0B1F3A">
                <a:alpha val="12000"/>
              </a:srgbClr>
            </a:outerShdw>
          </a:effectLst>
        </p:spPr>
      </p:sp>
      <p:sp>
        <p:nvSpPr>
          <p:cNvPr id="19" name="action num 4"/>
          <p:cNvSpPr/>
          <p:nvPr/>
        </p:nvSpPr>
        <p:spPr>
          <a:xfrm>
            <a:off x="640080" y="3895344"/>
            <a:ext cx="475488" cy="475488"/>
          </a:xfrm>
          <a:prstGeom prst="ellipse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895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384962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Disengaged / At-Risk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38496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875"/>
                </a:solidFill>
              </a:rPr>
              <a:t>Early warning: counselling, attendance follow-up, catch-up plan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A99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54864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chemeClr val="bg1"/>
                </a:solidFill>
              </a:rPr>
              <a:t>Conclusion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737360"/>
            <a:ext cx="8046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PSO, written from scratch, clustered 400 students into four clear learning patterns.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Swarm search was stable across seeds and matched the best K-Means result.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2"/>
                </a:solidFill>
              </a:rPr>
              <a:t>Future work: PSO + K-Means hybrid, multi-objective PSO, real LMS data, fuzzy membership.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arm">
  <a:themeElements>
    <a:clrScheme name="Swarm">
      <a:dk1>
        <a:srgbClr val="0B1F3A"/>
      </a:dk1>
      <a:lt1>
        <a:srgbClr val="FFFFFF"/>
      </a:lt1>
      <a:dk2>
        <a:srgbClr val="1B3A6B"/>
      </a:dk2>
      <a:lt2>
        <a:srgbClr val="EEF3FA"/>
      </a:lt2>
      <a:accent1>
        <a:srgbClr val="F5B700"/>
      </a:accent1>
      <a:accent2>
        <a:srgbClr val="2A9D8F"/>
      </a:accent2>
      <a:accent3>
        <a:srgbClr val="E76F51"/>
      </a:accent3>
      <a:accent4>
        <a:srgbClr val="4C78A8"/>
      </a:accent4>
      <a:accent5>
        <a:srgbClr val="54A24B"/>
      </a:accent5>
      <a:accent6>
        <a:srgbClr val="B279A2"/>
      </a:accent6>
      <a:hlink>
        <a:srgbClr val="1B3A6B"/>
      </a:hlink>
      <a:folHlink>
        <a:srgbClr val="6B7A99"/>
      </a:folHlink>
    </a:clrScheme>
    <a:fontScheme name="Swar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935</Words>
  <Application>Microsoft Office PowerPoint</Application>
  <PresentationFormat>On-screen Show (16:9)</PresentationFormat>
  <Paragraphs>208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Swarm</vt:lpstr>
      <vt:lpstr>Student Learning Pattern Clustering using Particle Swarm Optimization</vt:lpstr>
      <vt:lpstr>The problem statement</vt:lpstr>
      <vt:lpstr>Dataset and preprocessing</vt:lpstr>
      <vt:lpstr>Bio-inspired concept: PSO</vt:lpstr>
      <vt:lpstr>Mapping PSO to clustering</vt:lpstr>
      <vt:lpstr>Our pipeline</vt:lpstr>
      <vt:lpstr>Choosing the number of clusters</vt:lpstr>
      <vt:lpstr>PSO convergence</vt:lpstr>
      <vt:lpstr>How the swarm finds the clusters</vt:lpstr>
      <vt:lpstr>Discovered clusters</vt:lpstr>
      <vt:lpstr>The four learning patterns</vt:lpstr>
      <vt:lpstr>PSO vs K-Means</vt:lpstr>
      <vt:lpstr>From clusters to action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Learning Pattern Clustering using PSO</dc:title>
  <dc:subject>PptxGenJS Presentation</dc:subject>
  <dc:creator>Bio-Inspired Computing</dc:creator>
  <cp:lastModifiedBy>Anushka Sharma</cp:lastModifiedBy>
  <cp:revision>2</cp:revision>
  <dcterms:created xsi:type="dcterms:W3CDTF">2026-10-15T03:16:36Z</dcterms:created>
  <dcterms:modified xsi:type="dcterms:W3CDTF">2026-10-15T03:41:56Z</dcterms:modified>
</cp:coreProperties>
</file>